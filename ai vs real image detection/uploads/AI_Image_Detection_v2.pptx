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B5C1AE-5080-4FEF-878D-60C54422804A}">
  <a:tblStyle styleId="{8CB5C1AE-5080-4FEF-878D-60C5442280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14400" y="2011680"/>
            <a:ext cx="731520" cy="3131820"/>
          </a:xfrm>
          <a:prstGeom prst="rect">
            <a:avLst/>
          </a:prstGeom>
          <a:solidFill>
            <a:srgbClr val="111344"/>
          </a:solidFill>
          <a:ln cap="flat" cmpd="sng" w="12700">
            <a:solidFill>
              <a:srgbClr val="111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920240" y="0"/>
            <a:ext cx="7223760" cy="5143500"/>
          </a:xfrm>
          <a:prstGeom prst="rect">
            <a:avLst/>
          </a:prstGeom>
          <a:solidFill>
            <a:srgbClr val="F1F0F5"/>
          </a:solidFill>
          <a:ln cap="flat" cmpd="sng" w="12700">
            <a:solidFill>
              <a:srgbClr val="F1F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920240" y="0"/>
            <a:ext cx="7223760" cy="5143500"/>
          </a:xfrm>
          <a:prstGeom prst="rect">
            <a:avLst/>
          </a:prstGeom>
          <a:solidFill>
            <a:srgbClr val="FFFFFF">
              <a:alpha val="7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920240" y="0"/>
            <a:ext cx="54864" cy="5143500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194560" y="7315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5400"/>
              <a:buFont typeface="Quattrocento Sans"/>
              <a:buNone/>
            </a:pPr>
            <a:r>
              <a:rPr b="1" i="0" lang="en-US" sz="54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vs Real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94560" y="1691640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4400"/>
              <a:buFont typeface="Quattrocento Sans"/>
              <a:buNone/>
            </a:pPr>
            <a:r>
              <a:rPr b="1" i="0" lang="en-US" sz="44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Detection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2194560" y="260604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2194560" y="278892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Quattrocento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Confronto tra approcci di Machine Learning classico e Deep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Quattrocento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 il rilevamento di immagini generate da intelligenza artificiale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194560" y="3931920"/>
            <a:ext cx="2011680" cy="38404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194560" y="39319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CIFAKE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434840" y="3931920"/>
            <a:ext cx="2011680" cy="384048"/>
          </a:xfrm>
          <a:prstGeom prst="rect">
            <a:avLst/>
          </a:prstGeom>
          <a:solidFill>
            <a:srgbClr val="111344"/>
          </a:solidFill>
          <a:ln cap="flat" cmpd="sng" w="12700">
            <a:solidFill>
              <a:srgbClr val="111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434840" y="39319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PyTorch + Scikit-learn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675120" y="3931920"/>
            <a:ext cx="2011680" cy="384048"/>
          </a:xfrm>
          <a:prstGeom prst="rect">
            <a:avLst/>
          </a:prstGeom>
          <a:solidFill>
            <a:srgbClr val="094D92"/>
          </a:solidFill>
          <a:ln cap="flat" cmpd="sng" w="12700">
            <a:solidFill>
              <a:srgbClr val="09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675120" y="393192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Perché rilevare immagini AI?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28600" y="868680"/>
            <a:ext cx="27889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28600" y="868680"/>
            <a:ext cx="2788920" cy="6400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65760" y="100584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Disinformazione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1463040"/>
            <a:ext cx="2514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immagini generate da AI vengono usate per creare notizie false, manipolare l'opinione pubblica e falsificare prove visive.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154680" y="868680"/>
            <a:ext cx="27889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154680" y="868680"/>
            <a:ext cx="2788920" cy="64008"/>
          </a:xfrm>
          <a:prstGeom prst="rect">
            <a:avLst/>
          </a:prstGeom>
          <a:solidFill>
            <a:srgbClr val="094D92"/>
          </a:solidFill>
          <a:ln cap="flat" cmpd="sng" w="12700">
            <a:solidFill>
              <a:srgbClr val="09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91840" y="100584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Identità digitale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91840" y="1463040"/>
            <a:ext cx="2514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Deepfake e volti sintetici minacciano sistemi di autenticazione, reputazioni personali e fiducia nelle comunicazioni digitali.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080760" y="868680"/>
            <a:ext cx="27889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080760" y="868680"/>
            <a:ext cx="2788920" cy="64008"/>
          </a:xfrm>
          <a:prstGeom prst="rect">
            <a:avLst/>
          </a:prstGeom>
          <a:solidFill>
            <a:srgbClr val="9BC53D"/>
          </a:solidFill>
          <a:ln cap="flat" cmpd="sng" w="1270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217920" y="100584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Proprietà intellettuale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217920" y="1463040"/>
            <a:ext cx="2514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Contenuti artistici e fotografici vengono replicati da modelli generativi senza consenso, violando diritti d'autore.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28600" y="4206240"/>
            <a:ext cx="8686800" cy="658368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28600" y="4206240"/>
            <a:ext cx="64008" cy="65836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11480" y="420624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1250"/>
              <a:buFont typeface="Quattrocento Sans"/>
              <a:buNone/>
            </a:pPr>
            <a:r>
              <a:rPr b="0" i="1" lang="en-US" sz="125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volume di immagini sintetiche online è cresciuto esponenzialmente dal 2022 — i modelli generativi sono oggi accessibili a chiunque.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Descrizione del problema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28600" y="868680"/>
            <a:ext cx="2011680" cy="1188720"/>
          </a:xfrm>
          <a:prstGeom prst="rect">
            <a:avLst/>
          </a:prstGeom>
          <a:solidFill>
            <a:srgbClr val="F1F0F5"/>
          </a:solidFill>
          <a:ln cap="flat" cmpd="sng" w="1015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28600" y="868680"/>
            <a:ext cx="2011680" cy="54864"/>
          </a:xfrm>
          <a:prstGeom prst="rect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28600" y="9235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28600" y="1307592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Immagine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32×32 px (RGB)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28600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788920" y="868680"/>
            <a:ext cx="2468880" cy="1188720"/>
          </a:xfrm>
          <a:prstGeom prst="rect">
            <a:avLst/>
          </a:prstGeom>
          <a:solidFill>
            <a:srgbClr val="52154E">
              <a:alpha val="12156"/>
            </a:srgbClr>
          </a:solidFill>
          <a:ln cap="flat" cmpd="sng" w="1015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88920" y="868680"/>
            <a:ext cx="2468880" cy="5486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788920" y="92354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788920" y="1307592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flat / ResNet-18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Classificazione binaria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30352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800"/>
              <a:buFont typeface="Quattrocento Sans"/>
              <a:buNone/>
            </a:pPr>
            <a:r>
              <a:rPr b="0" i="0" lang="en-US" sz="18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806440" y="868680"/>
            <a:ext cx="2011680" cy="530352"/>
          </a:xfrm>
          <a:prstGeom prst="rect">
            <a:avLst/>
          </a:prstGeom>
          <a:solidFill>
            <a:srgbClr val="9BC53D">
              <a:alpha val="20000"/>
            </a:srgbClr>
          </a:solidFill>
          <a:ln cap="flat" cmpd="sng" w="1015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806440" y="86868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53D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9BC53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806440" y="1508760"/>
            <a:ext cx="2011680" cy="530352"/>
          </a:xfrm>
          <a:prstGeom prst="rect">
            <a:avLst/>
          </a:prstGeom>
          <a:solidFill>
            <a:srgbClr val="FA7921">
              <a:alpha val="20000"/>
            </a:srgbClr>
          </a:solidFill>
          <a:ln cap="flat" cmpd="sng" w="1015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806440" y="150876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 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28600" y="228600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Due approcci a confronto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228600" y="2633472"/>
            <a:ext cx="8686800" cy="0"/>
          </a:xfrm>
          <a:prstGeom prst="straightConnector1">
            <a:avLst/>
          </a:prstGeom>
          <a:noFill/>
          <a:ln cap="flat" cmpd="sng" w="15225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5"/>
          <p:cNvSpPr/>
          <p:nvPr/>
        </p:nvSpPr>
        <p:spPr>
          <a:xfrm>
            <a:off x="228600" y="2743200"/>
            <a:ext cx="406908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28600" y="2743200"/>
            <a:ext cx="4069080" cy="54864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65760" y="283464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Classico (baseline)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3246120"/>
            <a:ext cx="3794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 flatten 32×32×3 = 3.072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lineare (SGD hinge)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 200 alberi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Nessuna 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17720" y="2743200"/>
            <a:ext cx="429768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617720" y="2743200"/>
            <a:ext cx="4297680" cy="5486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754880" y="28346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754880" y="3246120"/>
            <a:ext cx="4023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pretrained su ImageNet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Transfer learning + fine-tuning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estratte automaticamente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Immagini 128×128, GPU CUDA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dataset: CIFAKE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28600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28600" y="804672"/>
            <a:ext cx="1965960" cy="5486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28600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8600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immagini totali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404872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404872" y="804672"/>
            <a:ext cx="1965960" cy="54864"/>
          </a:xfrm>
          <a:prstGeom prst="rect">
            <a:avLst/>
          </a:prstGeom>
          <a:solidFill>
            <a:srgbClr val="9BC53D"/>
          </a:solidFill>
          <a:ln cap="flat" cmpd="sng" w="1270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2404872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53D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9BC53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 / 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404872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bilanciamento classi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81144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81144" y="804672"/>
            <a:ext cx="1965960" cy="54864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81144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32×32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81144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risoluzione originale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757416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757416" y="804672"/>
            <a:ext cx="1965960" cy="54864"/>
          </a:xfrm>
          <a:prstGeom prst="rect">
            <a:avLst/>
          </a:prstGeom>
          <a:solidFill>
            <a:srgbClr val="094D92"/>
          </a:solidFill>
          <a:ln cap="flat" cmpd="sng" w="12700">
            <a:solidFill>
              <a:srgbClr val="09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757416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4D92"/>
              </a:buClr>
              <a:buSzPts val="24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60k / 20</a:t>
            </a:r>
            <a:r>
              <a:rPr b="1" lang="en-US" sz="2000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 </a:t>
            </a:r>
            <a:r>
              <a:rPr b="1" i="0" lang="en-US" sz="2000" u="none" cap="none" strike="noStrike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20k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757416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/ </a:t>
            </a:r>
            <a:r>
              <a:rPr lang="en-US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</a:t>
            </a: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test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mgs/01_class_distribution.png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74520"/>
            <a:ext cx="3200400" cy="29718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pic>
        <p:nvPicPr>
          <p:cNvPr descr="/home/claude/pptx_project/imgs/03_image_grid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1874520"/>
            <a:ext cx="5349240" cy="29718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118" name="Google Shape;118;p6"/>
          <p:cNvSpPr/>
          <p:nvPr/>
        </p:nvSpPr>
        <p:spPr>
          <a:xfrm>
            <a:off x="228600" y="484632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Distribuzione classi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566160" y="4846320"/>
            <a:ext cx="5349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Esempi: REAL (riga 1) e FAKE generate con Stable Diffusion (riga 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Analisi esplorativa — Pixel e nitidezza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mgs/02_rgb_histograms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04672"/>
            <a:ext cx="5303520" cy="23317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pic>
        <p:nvPicPr>
          <p:cNvPr descr="/home/claude/pptx_project/imgs/04_blur_score_boxplot.png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804672"/>
            <a:ext cx="3246120" cy="23317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132" name="Google Shape;132;p7"/>
          <p:cNvSpPr/>
          <p:nvPr/>
        </p:nvSpPr>
        <p:spPr>
          <a:xfrm>
            <a:off x="228600" y="3246120"/>
            <a:ext cx="53035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28600" y="3246120"/>
            <a:ext cx="50292" cy="1645920"/>
          </a:xfrm>
          <a:prstGeom prst="rect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11480" y="3291840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12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Istogrammi RGB medi per classe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11480" y="3657600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Canale R: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con picco più accentuato attorno a 120–130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Canale B: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con più energia nei toni scuri (0–40) — rumore ottico naturale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9BC53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Canale G: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distribuzione quasi identica — canale meno discriminativo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669280" y="3246120"/>
            <a:ext cx="32461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669280" y="3246120"/>
            <a:ext cx="50292" cy="1645920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833872" y="3291840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12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Blur score (Laplaciano)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833872" y="3657600"/>
            <a:ext cx="29992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D92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 media 214.7</a:t>
            </a:r>
            <a:br>
              <a:rPr b="1" i="0" lang="en-US" sz="1150" u="none" cap="none" strike="noStrike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15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 media 344.2</a:t>
            </a:r>
            <a:br>
              <a:rPr b="1" i="0" lang="en-US" sz="115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immagini AI risultano più nitide: i generatori ottimizzano la qualità percepita producendo bordi artificialmente netti.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Analisi esplorativa — Spettro di frequenza (FFT)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mgs/05_fft_spectrum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04672"/>
            <a:ext cx="8686800" cy="27889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151" name="Google Shape;151;p8"/>
          <p:cNvSpPr/>
          <p:nvPr/>
        </p:nvSpPr>
        <p:spPr>
          <a:xfrm>
            <a:off x="228600" y="3703320"/>
            <a:ext cx="27889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28600" y="3703320"/>
            <a:ext cx="2788920" cy="50292"/>
          </a:xfrm>
          <a:prstGeom prst="rect">
            <a:avLst/>
          </a:prstGeom>
          <a:solidFill>
            <a:srgbClr val="9BC53D"/>
          </a:solidFill>
          <a:ln cap="flat" cmpd="sng" w="1270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38328" y="37673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Spettro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38328" y="41148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Energia distribuita naturalmente, decadimento radiale graduale dal centro verso i bordi.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200400" y="3703320"/>
            <a:ext cx="27889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00400" y="3703320"/>
            <a:ext cx="2788920" cy="50292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310128" y="37673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Spettro FAKE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310128" y="41148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 simile ma con differenze strutturali nelle frequenze medie — traccia del processo di generazione.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72200" y="3703320"/>
            <a:ext cx="27889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172200" y="3703320"/>
            <a:ext cx="2788920" cy="50292"/>
          </a:xfrm>
          <a:prstGeom prst="rect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281928" y="37673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Differenza (REAL−FAKE)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281928" y="41148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zone blu (FAKE &gt; REAL) rivelano eccesso di energia nelle medie frequenze: impronta del modello AI.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2154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7772400" y="0"/>
            <a:ext cx="731520" cy="5143500"/>
          </a:xfrm>
          <a:prstGeom prst="rect">
            <a:avLst/>
          </a:prstGeom>
          <a:solidFill>
            <a:srgbClr val="111344"/>
          </a:solidFill>
          <a:ln cap="flat" cmpd="sng" w="12700">
            <a:solidFill>
              <a:srgbClr val="111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503920" y="0"/>
            <a:ext cx="640080" cy="2926080"/>
          </a:xfrm>
          <a:prstGeom prst="rect">
            <a:avLst/>
          </a:prstGeom>
          <a:solidFill>
            <a:srgbClr val="FA7921">
              <a:alpha val="70196"/>
            </a:srgbClr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7200" y="2148840"/>
            <a:ext cx="6858000" cy="45720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57200" y="50292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Quattrocento San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Approccio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Quattrocento San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Classico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500"/>
              <a:buFont typeface="Quattrocento Sans"/>
              <a:buNone/>
            </a:pPr>
            <a:r>
              <a:rPr b="0" i="1" lang="en-US" sz="15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con pixel flatten — nessuna feature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" y="2880360"/>
            <a:ext cx="1645920" cy="1737360"/>
          </a:xfrm>
          <a:prstGeom prst="rect">
            <a:avLst/>
          </a:prstGeom>
          <a:solidFill>
            <a:srgbClr val="111344"/>
          </a:solidFill>
          <a:ln cap="flat" cmpd="sng" w="9525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7200" y="34747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Flatten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57200" y="3822192"/>
            <a:ext cx="1645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32×32×3 → vettore 3.072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2286000" y="2880360"/>
            <a:ext cx="1645920" cy="1737360"/>
          </a:xfrm>
          <a:prstGeom prst="rect">
            <a:avLst/>
          </a:prstGeom>
          <a:solidFill>
            <a:srgbClr val="111344"/>
          </a:solidFill>
          <a:ln cap="flat" cmpd="sng" w="9525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2286000" y="2926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286000" y="34747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286000" y="3822192"/>
            <a:ext cx="1645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 /255  → [0,1]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114800" y="2880360"/>
            <a:ext cx="1645920" cy="1737360"/>
          </a:xfrm>
          <a:prstGeom prst="rect">
            <a:avLst/>
          </a:prstGeom>
          <a:solidFill>
            <a:srgbClr val="111344"/>
          </a:solidFill>
          <a:ln cap="flat" cmpd="sng" w="9525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114800" y="2926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14800" y="34747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114800" y="3822192"/>
            <a:ext cx="1645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9.000 campioni per classe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943600" y="2880360"/>
            <a:ext cx="1645920" cy="1737360"/>
          </a:xfrm>
          <a:prstGeom prst="rect">
            <a:avLst/>
          </a:prstGeom>
          <a:solidFill>
            <a:srgbClr val="111344"/>
          </a:solidFill>
          <a:ln cap="flat" cmpd="sng" w="9525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943600" y="2926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943600" y="34747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943600" y="3822192"/>
            <a:ext cx="1645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+ 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47091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150"/>
              <a:buFont typeface="Quattrocento Sans"/>
              <a:buNone/>
            </a:pPr>
            <a:r>
              <a:rPr b="0" i="1" lang="en-US" sz="115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Limitazione attesa: senza struttura spaziale, i pixel grezzi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150"/>
              <a:buFont typeface="Quattrocento Sans"/>
              <a:buNone/>
            </a:pPr>
            <a:r>
              <a:rPr b="0" i="1" lang="en-US" sz="115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offrono informazioni ridotte al classificatore lineare.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Risultati ML classico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28600" y="804672"/>
            <a:ext cx="4206240" cy="457200"/>
          </a:xfrm>
          <a:prstGeom prst="rect">
            <a:avLst/>
          </a:prstGeom>
          <a:solidFill>
            <a:srgbClr val="111344"/>
          </a:solidFill>
          <a:ln cap="flat" cmpd="sng" w="12700">
            <a:solidFill>
              <a:srgbClr val="111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228600" y="804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(SGD)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01752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301752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62.8%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01752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673352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1673352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0.674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673352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AUC-ROC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044952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044952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0.628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044952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690872" y="804672"/>
            <a:ext cx="4206240" cy="457200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690872" y="804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764024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764024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80.1%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764024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135624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135624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0.880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135624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AUC-ROC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507224" y="1353312"/>
            <a:ext cx="1298448" cy="77724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7507224" y="1389888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7507224" y="18470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mgs/ml_svm_confusion_matrix.png"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0"/>
            <a:ext cx="4206240" cy="25603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pic>
        <p:nvPicPr>
          <p:cNvPr descr="/home/claude/pptx_project/imgs/ml_rf_confusion_matrix.png" id="224" name="Google Shape;2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872" y="2286000"/>
            <a:ext cx="4224528" cy="25603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225" name="Google Shape;225;p10"/>
          <p:cNvSpPr/>
          <p:nvPr/>
        </p:nvSpPr>
        <p:spPr>
          <a:xfrm>
            <a:off x="228600" y="484632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(SGD hinge)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690872" y="4846320"/>
            <a:ext cx="4224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 (200 alberi)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34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7772400" y="0"/>
            <a:ext cx="731520" cy="5143500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8503920" y="1828800"/>
            <a:ext cx="640080" cy="3314700"/>
          </a:xfrm>
          <a:prstGeom prst="rect">
            <a:avLst/>
          </a:prstGeom>
          <a:solidFill>
            <a:srgbClr val="5BC0EB">
              <a:alpha val="70196"/>
            </a:srgbClr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57200" y="2148840"/>
            <a:ext cx="6858000" cy="45720"/>
          </a:xfrm>
          <a:prstGeom prst="rect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57200" y="50292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Quattrocento San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Approccio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Quattrocento San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Learning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500"/>
              <a:buFont typeface="Quattrocento Sans"/>
              <a:buNone/>
            </a:pPr>
            <a:r>
              <a:rPr b="0" i="1" lang="en-US" sz="15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con transfer learning da ImageNet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57200" y="2926080"/>
            <a:ext cx="1353312" cy="1737360"/>
          </a:xfrm>
          <a:prstGeom prst="rect">
            <a:avLst/>
          </a:prstGeom>
          <a:solidFill>
            <a:srgbClr val="52154E">
              <a:alpha val="40000"/>
            </a:srgbClr>
          </a:solidFill>
          <a:ln cap="flat" cmpd="sng" w="101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57200" y="3017520"/>
            <a:ext cx="1353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ImageNet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3749040"/>
            <a:ext cx="1353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Pesi congelati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810512" y="3566160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938528" y="2926080"/>
            <a:ext cx="1353312" cy="1737360"/>
          </a:xfrm>
          <a:prstGeom prst="rect">
            <a:avLst/>
          </a:prstGeom>
          <a:solidFill>
            <a:srgbClr val="52154E">
              <a:alpha val="40000"/>
            </a:srgbClr>
          </a:solidFill>
          <a:ln cap="flat" cmpd="sng" w="101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1938528" y="3017520"/>
            <a:ext cx="1353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Layer1–3 frozen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938528" y="3749040"/>
            <a:ext cx="1353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extractor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291840" y="3566160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419856" y="2926080"/>
            <a:ext cx="1353312" cy="1737360"/>
          </a:xfrm>
          <a:prstGeom prst="rect">
            <a:avLst/>
          </a:prstGeom>
          <a:solidFill>
            <a:srgbClr val="52154E">
              <a:alpha val="70196"/>
            </a:srgbClr>
          </a:solidFill>
          <a:ln cap="flat" cmpd="sng" w="1015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419856" y="3017520"/>
            <a:ext cx="1353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Layer4 trainable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419856" y="3749040"/>
            <a:ext cx="1353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Adattamento AI domain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773168" y="3566160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901184" y="2926080"/>
            <a:ext cx="1353312" cy="1737360"/>
          </a:xfrm>
          <a:prstGeom prst="rect">
            <a:avLst/>
          </a:prstGeom>
          <a:solidFill>
            <a:srgbClr val="52154E">
              <a:alpha val="70196"/>
            </a:srgbClr>
          </a:solidFill>
          <a:ln cap="flat" cmpd="sng" w="1015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901184" y="3017520"/>
            <a:ext cx="1353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FC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901184" y="3749040"/>
            <a:ext cx="1353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Linear(512→2) + Dropout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254496" y="3566160"/>
            <a:ext cx="128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5BC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382512" y="2926080"/>
            <a:ext cx="1353312" cy="1737360"/>
          </a:xfrm>
          <a:prstGeom prst="rect">
            <a:avLst/>
          </a:prstGeom>
          <a:solidFill>
            <a:srgbClr val="52154E">
              <a:alpha val="70196"/>
            </a:srgbClr>
          </a:solidFill>
          <a:ln cap="flat" cmpd="sng" w="1015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382512" y="3017520"/>
            <a:ext cx="13533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53D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9BC53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Softmax → REAL/FAKE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382512" y="3749040"/>
            <a:ext cx="1353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57200" y="473659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Quattrocento Sans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Fase 1 (3 epoch): solo FC head — lr=1e-3  |  Fase 2 (5 epoch): unfreeze layer4 — lr=1e-4  |  Batch 64 · Image 128×128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ResNet-18 — Curve di apprendimento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mgs/dl_training_curves_full.png" id="268" name="Google Shape;2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04672"/>
            <a:ext cx="8686800" cy="29260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269" name="Google Shape;269;p12"/>
          <p:cNvSpPr/>
          <p:nvPr/>
        </p:nvSpPr>
        <p:spPr>
          <a:xfrm>
            <a:off x="228600" y="3858768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28600" y="3858768"/>
            <a:ext cx="50292" cy="1078992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393192" y="39044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Fase 1 — Classifier 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93192" y="4224528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 scende da 0.37 a 0.29 in 3 epoch. Accuracy stabile all'86%. Il modello impara rapidamente con i pesi ImageNet congelati.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690872" y="3858768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4690872" y="3858768"/>
            <a:ext cx="50292" cy="1078992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855464" y="39044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Fase 2 — Unfreeze layer4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855464" y="4224528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Salto di performance: accuracy supera il 96%. Loss di validazione 0.109 alla migliore epoch. Gap train/val minimo → no overfitting.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Risultati ResNet-18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228600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228600" y="804672"/>
            <a:ext cx="1965960" cy="5486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228600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96.1%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228600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404872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2404872" y="804672"/>
            <a:ext cx="1965960" cy="54864"/>
          </a:xfrm>
          <a:prstGeom prst="rect">
            <a:avLst/>
          </a:prstGeom>
          <a:solidFill>
            <a:srgbClr val="111344"/>
          </a:solidFill>
          <a:ln cap="flat" cmpd="sng" w="12700">
            <a:solidFill>
              <a:srgbClr val="111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2404872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44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1113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0.9958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2404872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AUC-ROC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81144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581144" y="804672"/>
            <a:ext cx="1965960" cy="54864"/>
          </a:xfrm>
          <a:prstGeom prst="rect">
            <a:avLst/>
          </a:prstGeom>
          <a:solidFill>
            <a:srgbClr val="9BC53D"/>
          </a:solidFill>
          <a:ln cap="flat" cmpd="sng" w="12700">
            <a:solidFill>
              <a:srgbClr val="9BC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581144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53D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9BC53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0.961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581144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757416" y="804672"/>
            <a:ext cx="19659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757416" y="804672"/>
            <a:ext cx="1965960" cy="54864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6757416" y="877824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2400"/>
              <a:buFont typeface="Quattrocento Sans"/>
              <a:buNone/>
            </a:pPr>
            <a:r>
              <a:rPr b="1" i="0" lang="en-US" sz="24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757416" y="14447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Val/Test gap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mgs/eval_resnet18_confusion_matrix.png"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74520"/>
            <a:ext cx="5029200" cy="30175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pic>
        <p:nvPicPr>
          <p:cNvPr descr="/home/claude/pptx_project/imgs/eval_resnet18_roc_curve.png" id="304" name="Google Shape;3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1874520"/>
            <a:ext cx="3520440" cy="30175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</p:pic>
      <p:sp>
        <p:nvSpPr>
          <p:cNvPr id="305" name="Google Shape;305;p13"/>
          <p:cNvSpPr/>
          <p:nvPr/>
        </p:nvSpPr>
        <p:spPr>
          <a:xfrm>
            <a:off x="228600" y="48463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Matrice di confusione (test set — 20.000 immagini)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394960" y="484632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Curva ROC — AUC = 0.9958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1051560" y="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Confronto tra approcci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04672"/>
            <a:ext cx="502920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804672"/>
            <a:ext cx="3566160" cy="2788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14"/>
          <p:cNvGraphicFramePr/>
          <p:nvPr/>
        </p:nvGraphicFramePr>
        <p:xfrm>
          <a:off x="228600" y="3730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{8CB5C1AE-5080-4FEF-878D-60C54422804A}</a:tableStyleId>
              </a:tblPr>
              <a:tblGrid>
                <a:gridCol w="2286000"/>
                <a:gridCol w="1463050"/>
                <a:gridCol w="1463050"/>
                <a:gridCol w="1463050"/>
                <a:gridCol w="201167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Modello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15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Accuracy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15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AUC-ROC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15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F1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15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Tempo train (RTX 40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 Ti)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2154E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SVM (SGD)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62.8%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0.674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0.628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 1 s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7921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FA79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Random Forest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7921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FA79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80.1%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7921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FA79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0.880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7921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FA79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0.801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7921"/>
                        </a:buClr>
                        <a:buSzPts val="1200"/>
                        <a:buFont typeface="Quattrocento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FA79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 s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154E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2154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ResNet-18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154E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2154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96.1%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154E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2154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0.9958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154E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2154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0.961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154E"/>
                        </a:buClr>
                        <a:buSzPts val="1200"/>
                        <a:buFont typeface="Quattrocento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2154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~12 min</a:t>
                      </a:r>
                      <a:endParaRPr sz="12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attrocen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0" y="699516"/>
            <a:ext cx="50292" cy="4443984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228600" y="850392"/>
            <a:ext cx="8686800" cy="91440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228600" y="850392"/>
            <a:ext cx="50292" cy="9144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411480" y="905256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flattening limita il ML classico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411480" y="1234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a 62.8% dimostra che i pixel grezzi senza struttura spaziale sono insufficienti. Il modello tratta ogni pixel come feature indipendente, ignorando le relazioni locali.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228600" y="1883664"/>
            <a:ext cx="8686800" cy="91440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228600" y="1883664"/>
            <a:ext cx="50292" cy="914400"/>
          </a:xfrm>
          <a:prstGeom prst="rect">
            <a:avLst/>
          </a:prstGeom>
          <a:solidFill>
            <a:srgbClr val="FA7921"/>
          </a:solidFill>
          <a:ln cap="flat" cmpd="sng" w="12700">
            <a:solidFill>
              <a:srgbClr val="FA7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411480" y="193852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7921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FA79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 coglie segnali parziali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11480" y="226771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80.1% con pixel flat è sorprendente. Gli alberi riescono ad isolare combinazioni di pixel, ma rimangono lontani dal limite superiore.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228600" y="2916936"/>
            <a:ext cx="8686800" cy="91440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228600" y="2916936"/>
            <a:ext cx="50292" cy="914400"/>
          </a:xfrm>
          <a:prstGeom prst="rect">
            <a:avLst/>
          </a:prstGeom>
          <a:solidFill>
            <a:srgbClr val="52154E"/>
          </a:solidFill>
          <a:ln cap="flat" cmpd="sng" w="12700">
            <a:solidFill>
              <a:srgbClr val="5215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411480" y="29718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154E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5215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domina con 96.1%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11480" y="3300984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filtri convoluzionali apprendono automaticamente texture, bordi e pattern periodici — esattamente le tracce che lasciano i generatori AI. AUC 0.9958 con gap val/test di soli 0.04%.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228600" y="3950208"/>
            <a:ext cx="8686800" cy="914400"/>
          </a:xfrm>
          <a:prstGeom prst="rect">
            <a:avLst/>
          </a:prstGeom>
          <a:solidFill>
            <a:srgbClr val="F1F0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52154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228600" y="3950208"/>
            <a:ext cx="50292" cy="914400"/>
          </a:xfrm>
          <a:prstGeom prst="rect">
            <a:avLst/>
          </a:prstGeom>
          <a:solidFill>
            <a:srgbClr val="094D92"/>
          </a:solidFill>
          <a:ln cap="flat" cmpd="sng" w="12700">
            <a:solidFill>
              <a:srgbClr val="09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411480" y="40050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D92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094D9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Transfer learning efficace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11480" y="433425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epoch totali su GPU consumer (RTX 4060 Ti) in ~12 minuti. I pesi ImageNet forniscono una base eccellente anche per un dominio specifico come AI detection.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